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naheim"/>
      <p:regular r:id="rId20"/>
      <p:bold r:id="rId21"/>
    </p:embeddedFont>
    <p:embeddedFont>
      <p:font typeface="Source Code Pro"/>
      <p:regular r:id="rId22"/>
      <p:bold r:id="rId23"/>
      <p:italic r:id="rId24"/>
      <p:boldItalic r:id="rId25"/>
    </p:embeddedFont>
    <p:embeddedFont>
      <p:font typeface="Bebas Neue"/>
      <p:regular r:id="rId26"/>
    </p:embeddedFont>
    <p:embeddedFont>
      <p:font typeface="Fira Code"/>
      <p:regular r:id="rId27"/>
      <p:bold r:id="rId28"/>
    </p:embeddedFont>
    <p:embeddedFont>
      <p:font typeface="PT Sans"/>
      <p:regular r:id="rId29"/>
      <p:bold r:id="rId30"/>
      <p:italic r:id="rId31"/>
      <p:boldItalic r:id="rId32"/>
    </p:embeddedFont>
    <p:embeddedFont>
      <p:font typeface="Source Code Pro Medium"/>
      <p:regular r:id="rId33"/>
      <p:bold r:id="rId34"/>
      <p:italic r:id="rId35"/>
      <p:boldItalic r:id="rId36"/>
    </p:embeddedFont>
    <p:embeddedFont>
      <p:font typeface="Comforta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EbLgbRDX4euXMkRxEFmXPRPk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A35860-5EC9-46CE-AC10-FFEF6AEC42A3}">
  <a:tblStyle styleId="{2AA35860-5EC9-46CE-AC10-FFEF6AEC42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aheim-regular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Anaheim-bold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ebasNeue-regular.fntdata"/><Relationship Id="rId25" Type="http://schemas.openxmlformats.org/officeDocument/2006/relationships/font" Target="fonts/SourceCodePro-boldItalic.fntdata"/><Relationship Id="rId28" Type="http://schemas.openxmlformats.org/officeDocument/2006/relationships/font" Target="fonts/FiraCode-bold.fntdata"/><Relationship Id="rId27" Type="http://schemas.openxmlformats.org/officeDocument/2006/relationships/font" Target="fonts/FiraCod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T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italic.fntdata"/><Relationship Id="rId30" Type="http://schemas.openxmlformats.org/officeDocument/2006/relationships/font" Target="fonts/PTSans-bold.fntdata"/><Relationship Id="rId11" Type="http://schemas.openxmlformats.org/officeDocument/2006/relationships/slide" Target="slides/slide6.xml"/><Relationship Id="rId33" Type="http://schemas.openxmlformats.org/officeDocument/2006/relationships/font" Target="fonts/SourceCodeProMedium-regular.fntdata"/><Relationship Id="rId10" Type="http://schemas.openxmlformats.org/officeDocument/2006/relationships/slide" Target="slides/slide5.xml"/><Relationship Id="rId32" Type="http://schemas.openxmlformats.org/officeDocument/2006/relationships/font" Target="fonts/PTSans-boldItalic.fntdata"/><Relationship Id="rId13" Type="http://schemas.openxmlformats.org/officeDocument/2006/relationships/slide" Target="slides/slide8.xml"/><Relationship Id="rId35" Type="http://schemas.openxmlformats.org/officeDocument/2006/relationships/font" Target="fonts/SourceCodeProMedium-italic.fntdata"/><Relationship Id="rId12" Type="http://schemas.openxmlformats.org/officeDocument/2006/relationships/slide" Target="slides/slide7.xml"/><Relationship Id="rId34" Type="http://schemas.openxmlformats.org/officeDocument/2006/relationships/font" Target="fonts/SourceCodeProMedium-bold.fntdata"/><Relationship Id="rId15" Type="http://schemas.openxmlformats.org/officeDocument/2006/relationships/slide" Target="slides/slide10.xml"/><Relationship Id="rId37" Type="http://schemas.openxmlformats.org/officeDocument/2006/relationships/font" Target="fonts/Comfortaa-regular.fntdata"/><Relationship Id="rId14" Type="http://schemas.openxmlformats.org/officeDocument/2006/relationships/slide" Target="slides/slide9.xml"/><Relationship Id="rId36" Type="http://schemas.openxmlformats.org/officeDocument/2006/relationships/font" Target="fonts/SourceCodeProMedium-boldItalic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Comforta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cfa4228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8cfa4228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cfa4228d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8cfa4228d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cfa4228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8cfa4228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c83005e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9c83005e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83bdb49c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83bdb49c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3bdb49c1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83bdb49c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3bdb49c1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83bdb49c1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c83005e3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9c83005e3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83bdb49c1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83bdb49c1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3bdb49c1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83bdb49c1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7"/>
          <p:cNvSpPr txBox="1"/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57"/>
          <p:cNvSpPr txBox="1"/>
          <p:nvPr>
            <p:ph idx="1" type="subTitle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13;p58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4" name="Google Shape;14;p5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58"/>
          <p:cNvSpPr txBox="1"/>
          <p:nvPr>
            <p:ph idx="1" type="body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9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59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2" name="Google Shape;22;p5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59"/>
          <p:cNvSpPr txBox="1"/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" type="subTitle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2" type="subTitle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3" type="subTitle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9"/>
          <p:cNvSpPr txBox="1"/>
          <p:nvPr>
            <p:ph idx="4" type="title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59"/>
          <p:cNvSpPr txBox="1"/>
          <p:nvPr>
            <p:ph idx="5" type="title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59"/>
          <p:cNvSpPr txBox="1"/>
          <p:nvPr>
            <p:ph idx="6" type="title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59"/>
          <p:cNvSpPr txBox="1"/>
          <p:nvPr>
            <p:ph idx="7" type="subTitle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" name="Google Shape;33;p59"/>
          <p:cNvSpPr txBox="1"/>
          <p:nvPr>
            <p:ph idx="8" type="subTitle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" name="Google Shape;34;p59"/>
          <p:cNvSpPr txBox="1"/>
          <p:nvPr>
            <p:ph idx="9" type="subTitle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0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60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38" name="Google Shape;38;p60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60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60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" name="Google Shape;41;p60"/>
          <p:cNvSpPr txBox="1"/>
          <p:nvPr>
            <p:ph type="title"/>
          </p:nvPr>
        </p:nvSpPr>
        <p:spPr>
          <a:xfrm>
            <a:off x="4223100" y="1198450"/>
            <a:ext cx="42060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60"/>
          <p:cNvSpPr txBox="1"/>
          <p:nvPr>
            <p:ph idx="1" type="subTitle"/>
          </p:nvPr>
        </p:nvSpPr>
        <p:spPr>
          <a:xfrm>
            <a:off x="4223100" y="3162850"/>
            <a:ext cx="4206000" cy="1066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1"/>
          <p:cNvSpPr txBox="1"/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61"/>
          <p:cNvSpPr txBox="1"/>
          <p:nvPr>
            <p:ph idx="2" type="title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1"/>
          <p:cNvSpPr txBox="1"/>
          <p:nvPr>
            <p:ph idx="1" type="subTitle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1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p61"/>
          <p:cNvGrpSpPr/>
          <p:nvPr/>
        </p:nvGrpSpPr>
        <p:grpSpPr>
          <a:xfrm>
            <a:off x="8313825" y="353000"/>
            <a:ext cx="473100" cy="186500"/>
            <a:chOff x="7059675" y="514525"/>
            <a:chExt cx="473100" cy="186500"/>
          </a:xfrm>
        </p:grpSpPr>
        <p:cxnSp>
          <p:nvCxnSpPr>
            <p:cNvPr id="49" name="Google Shape;49;p61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" name="Google Shape;50;p61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" name="Google Shape;51;p61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2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62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55" name="Google Shape;55;p62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62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2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62"/>
          <p:cNvSpPr txBox="1"/>
          <p:nvPr>
            <p:ph idx="1" type="subTitle"/>
          </p:nvPr>
        </p:nvSpPr>
        <p:spPr>
          <a:xfrm>
            <a:off x="4821898" y="1443125"/>
            <a:ext cx="3602100" cy="24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2" type="subTitle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63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64" name="Google Shape;64;p6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6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6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63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63"/>
          <p:cNvSpPr txBox="1"/>
          <p:nvPr>
            <p:ph idx="1" type="subTitle"/>
          </p:nvPr>
        </p:nvSpPr>
        <p:spPr>
          <a:xfrm>
            <a:off x="3465225" y="1529000"/>
            <a:ext cx="4965600" cy="30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6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72" name="Google Shape;72;p6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64"/>
          <p:cNvSpPr txBox="1"/>
          <p:nvPr>
            <p:ph idx="1" type="subTitle"/>
          </p:nvPr>
        </p:nvSpPr>
        <p:spPr>
          <a:xfrm>
            <a:off x="5238851" y="2246051"/>
            <a:ext cx="27894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2" type="subTitle"/>
          </p:nvPr>
        </p:nvSpPr>
        <p:spPr>
          <a:xfrm>
            <a:off x="1707675" y="2246051"/>
            <a:ext cx="27894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4"/>
          <p:cNvSpPr txBox="1"/>
          <p:nvPr>
            <p:ph idx="3" type="subTitle"/>
          </p:nvPr>
        </p:nvSpPr>
        <p:spPr>
          <a:xfrm>
            <a:off x="1411701" y="1687150"/>
            <a:ext cx="278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" name="Google Shape;79;p64"/>
          <p:cNvSpPr txBox="1"/>
          <p:nvPr>
            <p:ph idx="4" type="subTitle"/>
          </p:nvPr>
        </p:nvSpPr>
        <p:spPr>
          <a:xfrm>
            <a:off x="4942882" y="1687150"/>
            <a:ext cx="278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5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65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83" name="Google Shape;83;p6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6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6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" name="Google Shape;87;p65"/>
          <p:cNvSpPr txBox="1"/>
          <p:nvPr>
            <p:ph idx="1" type="subTitle"/>
          </p:nvPr>
        </p:nvSpPr>
        <p:spPr>
          <a:xfrm>
            <a:off x="997700" y="2096375"/>
            <a:ext cx="23730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5"/>
          <p:cNvSpPr txBox="1"/>
          <p:nvPr>
            <p:ph idx="2" type="subTitle"/>
          </p:nvPr>
        </p:nvSpPr>
        <p:spPr>
          <a:xfrm>
            <a:off x="3522987" y="2756375"/>
            <a:ext cx="23730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5"/>
          <p:cNvSpPr txBox="1"/>
          <p:nvPr>
            <p:ph idx="3" type="subTitle"/>
          </p:nvPr>
        </p:nvSpPr>
        <p:spPr>
          <a:xfrm>
            <a:off x="6051233" y="3242600"/>
            <a:ext cx="23730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5"/>
          <p:cNvSpPr txBox="1"/>
          <p:nvPr>
            <p:ph idx="4" type="subTitle"/>
          </p:nvPr>
        </p:nvSpPr>
        <p:spPr>
          <a:xfrm>
            <a:off x="720000" y="1436375"/>
            <a:ext cx="24168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" name="Google Shape;91;p65"/>
          <p:cNvSpPr txBox="1"/>
          <p:nvPr>
            <p:ph idx="5" type="subTitle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" name="Google Shape;92;p65"/>
          <p:cNvSpPr txBox="1"/>
          <p:nvPr>
            <p:ph idx="6" type="subTitle"/>
          </p:nvPr>
        </p:nvSpPr>
        <p:spPr>
          <a:xfrm>
            <a:off x="5867044" y="2582600"/>
            <a:ext cx="24168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6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96" name="Google Shape;96;p6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0" name="Google Shape;100;p66"/>
          <p:cNvSpPr txBox="1"/>
          <p:nvPr>
            <p:ph idx="1" type="subTitle"/>
          </p:nvPr>
        </p:nvSpPr>
        <p:spPr>
          <a:xfrm>
            <a:off x="3500600" y="1923775"/>
            <a:ext cx="1978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6"/>
          <p:cNvSpPr txBox="1"/>
          <p:nvPr>
            <p:ph idx="2" type="subTitle"/>
          </p:nvPr>
        </p:nvSpPr>
        <p:spPr>
          <a:xfrm>
            <a:off x="6445791" y="1923775"/>
            <a:ext cx="1978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6"/>
          <p:cNvSpPr txBox="1"/>
          <p:nvPr>
            <p:ph idx="3" type="subTitle"/>
          </p:nvPr>
        </p:nvSpPr>
        <p:spPr>
          <a:xfrm>
            <a:off x="3500600" y="3566750"/>
            <a:ext cx="1978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6"/>
          <p:cNvSpPr txBox="1"/>
          <p:nvPr>
            <p:ph idx="4" type="subTitle"/>
          </p:nvPr>
        </p:nvSpPr>
        <p:spPr>
          <a:xfrm>
            <a:off x="6445791" y="3566750"/>
            <a:ext cx="1978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6"/>
          <p:cNvSpPr txBox="1"/>
          <p:nvPr>
            <p:ph idx="5" type="subTitle"/>
          </p:nvPr>
        </p:nvSpPr>
        <p:spPr>
          <a:xfrm>
            <a:off x="3194436" y="1418275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" name="Google Shape;105;p66"/>
          <p:cNvSpPr txBox="1"/>
          <p:nvPr>
            <p:ph idx="6" type="subTitle"/>
          </p:nvPr>
        </p:nvSpPr>
        <p:spPr>
          <a:xfrm>
            <a:off x="3194436" y="3061250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" name="Google Shape;106;p66"/>
          <p:cNvSpPr txBox="1"/>
          <p:nvPr>
            <p:ph idx="7" type="subTitle"/>
          </p:nvPr>
        </p:nvSpPr>
        <p:spPr>
          <a:xfrm>
            <a:off x="6139611" y="1418275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7" name="Google Shape;107;p66"/>
          <p:cNvSpPr txBox="1"/>
          <p:nvPr>
            <p:ph idx="8" type="subTitle"/>
          </p:nvPr>
        </p:nvSpPr>
        <p:spPr>
          <a:xfrm>
            <a:off x="6139611" y="3061250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0" name="Google Shape;110;p67"/>
          <p:cNvSpPr txBox="1"/>
          <p:nvPr>
            <p:ph idx="1" type="subTitle"/>
          </p:nvPr>
        </p:nvSpPr>
        <p:spPr>
          <a:xfrm>
            <a:off x="1394900" y="1853500"/>
            <a:ext cx="19860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7"/>
          <p:cNvSpPr txBox="1"/>
          <p:nvPr>
            <p:ph idx="2" type="subTitle"/>
          </p:nvPr>
        </p:nvSpPr>
        <p:spPr>
          <a:xfrm>
            <a:off x="3864750" y="1853500"/>
            <a:ext cx="19860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7"/>
          <p:cNvSpPr txBox="1"/>
          <p:nvPr>
            <p:ph idx="3" type="subTitle"/>
          </p:nvPr>
        </p:nvSpPr>
        <p:spPr>
          <a:xfrm>
            <a:off x="1394900" y="3283700"/>
            <a:ext cx="19860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7"/>
          <p:cNvSpPr txBox="1"/>
          <p:nvPr>
            <p:ph idx="4" type="subTitle"/>
          </p:nvPr>
        </p:nvSpPr>
        <p:spPr>
          <a:xfrm>
            <a:off x="3864750" y="3283700"/>
            <a:ext cx="19860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7"/>
          <p:cNvSpPr txBox="1"/>
          <p:nvPr>
            <p:ph idx="5" type="subTitle"/>
          </p:nvPr>
        </p:nvSpPr>
        <p:spPr>
          <a:xfrm>
            <a:off x="6334599" y="1853500"/>
            <a:ext cx="19860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7"/>
          <p:cNvSpPr txBox="1"/>
          <p:nvPr>
            <p:ph idx="6" type="subTitle"/>
          </p:nvPr>
        </p:nvSpPr>
        <p:spPr>
          <a:xfrm>
            <a:off x="6334599" y="3283700"/>
            <a:ext cx="19860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7"/>
          <p:cNvSpPr txBox="1"/>
          <p:nvPr>
            <p:ph idx="7" type="subTitle"/>
          </p:nvPr>
        </p:nvSpPr>
        <p:spPr>
          <a:xfrm>
            <a:off x="1113052" y="1360899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7" name="Google Shape;117;p67"/>
          <p:cNvSpPr txBox="1"/>
          <p:nvPr>
            <p:ph idx="8" type="subTitle"/>
          </p:nvPr>
        </p:nvSpPr>
        <p:spPr>
          <a:xfrm>
            <a:off x="3582900" y="1360899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" name="Google Shape;118;p67"/>
          <p:cNvSpPr txBox="1"/>
          <p:nvPr>
            <p:ph idx="9" type="subTitle"/>
          </p:nvPr>
        </p:nvSpPr>
        <p:spPr>
          <a:xfrm>
            <a:off x="6052748" y="1360899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" name="Google Shape;119;p67"/>
          <p:cNvSpPr txBox="1"/>
          <p:nvPr>
            <p:ph idx="13" type="subTitle"/>
          </p:nvPr>
        </p:nvSpPr>
        <p:spPr>
          <a:xfrm>
            <a:off x="1113052" y="27911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0" name="Google Shape;120;p67"/>
          <p:cNvSpPr txBox="1"/>
          <p:nvPr>
            <p:ph idx="14" type="subTitle"/>
          </p:nvPr>
        </p:nvSpPr>
        <p:spPr>
          <a:xfrm>
            <a:off x="3582900" y="27911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1" name="Google Shape;121;p67"/>
          <p:cNvSpPr txBox="1"/>
          <p:nvPr>
            <p:ph idx="15" type="subTitle"/>
          </p:nvPr>
        </p:nvSpPr>
        <p:spPr>
          <a:xfrm>
            <a:off x="6052748" y="2791100"/>
            <a:ext cx="197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8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68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125" name="Google Shape;125;p68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68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68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8" name="Google Shape;128;p68"/>
          <p:cNvSpPr txBox="1"/>
          <p:nvPr>
            <p:ph type="title"/>
          </p:nvPr>
        </p:nvSpPr>
        <p:spPr>
          <a:xfrm>
            <a:off x="4355250" y="1307100"/>
            <a:ext cx="40755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9"/>
          <p:cNvSpPr txBox="1"/>
          <p:nvPr>
            <p:ph type="title"/>
          </p:nvPr>
        </p:nvSpPr>
        <p:spPr>
          <a:xfrm>
            <a:off x="2687525" y="3464250"/>
            <a:ext cx="5743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69"/>
          <p:cNvSpPr txBox="1"/>
          <p:nvPr>
            <p:ph idx="1" type="subTitle"/>
          </p:nvPr>
        </p:nvSpPr>
        <p:spPr>
          <a:xfrm>
            <a:off x="2687414" y="1600950"/>
            <a:ext cx="57435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69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69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134" name="Google Shape;134;p69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" name="Google Shape;135;p69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69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7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1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71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143" name="Google Shape;143;p71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71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71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6" name="Google Shape;146;p71"/>
          <p:cNvSpPr txBox="1"/>
          <p:nvPr>
            <p:ph type="title"/>
          </p:nvPr>
        </p:nvSpPr>
        <p:spPr>
          <a:xfrm>
            <a:off x="713225" y="535650"/>
            <a:ext cx="3165900" cy="23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7" name="Google Shape;147;p71"/>
          <p:cNvSpPr txBox="1"/>
          <p:nvPr>
            <p:ph idx="1" type="subTitle"/>
          </p:nvPr>
        </p:nvSpPr>
        <p:spPr>
          <a:xfrm>
            <a:off x="713225" y="2914050"/>
            <a:ext cx="31659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1"/>
          <p:cNvSpPr/>
          <p:nvPr>
            <p:ph idx="2" type="pic"/>
          </p:nvPr>
        </p:nvSpPr>
        <p:spPr>
          <a:xfrm>
            <a:off x="4783250" y="532063"/>
            <a:ext cx="29100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2"/>
          <p:cNvSpPr txBox="1"/>
          <p:nvPr>
            <p:ph hasCustomPrompt="1" type="title"/>
          </p:nvPr>
        </p:nvSpPr>
        <p:spPr>
          <a:xfrm>
            <a:off x="1020613" y="1335100"/>
            <a:ext cx="71028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1" name="Google Shape;151;p72"/>
          <p:cNvSpPr txBox="1"/>
          <p:nvPr>
            <p:ph idx="1" type="subTitle"/>
          </p:nvPr>
        </p:nvSpPr>
        <p:spPr>
          <a:xfrm>
            <a:off x="1020588" y="3094475"/>
            <a:ext cx="7102800" cy="465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" name="Google Shape;152;p72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72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154" name="Google Shape;154;p72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72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72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3"/>
          <p:cNvSpPr/>
          <p:nvPr/>
        </p:nvSpPr>
        <p:spPr>
          <a:xfrm>
            <a:off x="3763500" y="-1800"/>
            <a:ext cx="5380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73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160" name="Google Shape;160;p73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73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73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3" name="Google Shape;163;p73"/>
          <p:cNvSpPr txBox="1"/>
          <p:nvPr>
            <p:ph type="title"/>
          </p:nvPr>
        </p:nvSpPr>
        <p:spPr>
          <a:xfrm>
            <a:off x="4051975" y="630575"/>
            <a:ext cx="4022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73"/>
          <p:cNvSpPr txBox="1"/>
          <p:nvPr>
            <p:ph idx="1" type="subTitle"/>
          </p:nvPr>
        </p:nvSpPr>
        <p:spPr>
          <a:xfrm>
            <a:off x="4408555" y="1300670"/>
            <a:ext cx="4022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5" name="Google Shape;165;p73"/>
          <p:cNvSpPr txBox="1"/>
          <p:nvPr>
            <p:ph idx="2" type="title"/>
          </p:nvPr>
        </p:nvSpPr>
        <p:spPr>
          <a:xfrm>
            <a:off x="4051975" y="1982840"/>
            <a:ext cx="4022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73"/>
          <p:cNvSpPr txBox="1"/>
          <p:nvPr>
            <p:ph idx="3" type="subTitle"/>
          </p:nvPr>
        </p:nvSpPr>
        <p:spPr>
          <a:xfrm>
            <a:off x="4408555" y="2652935"/>
            <a:ext cx="4022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7" name="Google Shape;167;p73"/>
          <p:cNvSpPr txBox="1"/>
          <p:nvPr>
            <p:ph idx="4" type="title"/>
          </p:nvPr>
        </p:nvSpPr>
        <p:spPr>
          <a:xfrm>
            <a:off x="4051975" y="3335105"/>
            <a:ext cx="40221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73"/>
          <p:cNvSpPr txBox="1"/>
          <p:nvPr>
            <p:ph idx="5" type="subTitle"/>
          </p:nvPr>
        </p:nvSpPr>
        <p:spPr>
          <a:xfrm>
            <a:off x="4408555" y="4005200"/>
            <a:ext cx="4022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7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72" name="Google Shape;172;p7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74"/>
          <p:cNvSpPr txBox="1"/>
          <p:nvPr>
            <p:ph type="title"/>
          </p:nvPr>
        </p:nvSpPr>
        <p:spPr>
          <a:xfrm>
            <a:off x="884850" y="1890700"/>
            <a:ext cx="10557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74"/>
          <p:cNvSpPr txBox="1"/>
          <p:nvPr>
            <p:ph idx="1" type="subTitle"/>
          </p:nvPr>
        </p:nvSpPr>
        <p:spPr>
          <a:xfrm>
            <a:off x="980375" y="3439250"/>
            <a:ext cx="22260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77" name="Google Shape;177;p74"/>
          <p:cNvSpPr txBox="1"/>
          <p:nvPr>
            <p:ph idx="2" type="subTitle"/>
          </p:nvPr>
        </p:nvSpPr>
        <p:spPr>
          <a:xfrm>
            <a:off x="720000" y="2906725"/>
            <a:ext cx="23040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74"/>
          <p:cNvSpPr txBox="1"/>
          <p:nvPr>
            <p:ph idx="3" type="title"/>
          </p:nvPr>
        </p:nvSpPr>
        <p:spPr>
          <a:xfrm>
            <a:off x="3590988" y="1890950"/>
            <a:ext cx="10557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74"/>
          <p:cNvSpPr txBox="1"/>
          <p:nvPr>
            <p:ph idx="4" type="subTitle"/>
          </p:nvPr>
        </p:nvSpPr>
        <p:spPr>
          <a:xfrm>
            <a:off x="3589193" y="3439250"/>
            <a:ext cx="22260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0" name="Google Shape;180;p74"/>
          <p:cNvSpPr txBox="1"/>
          <p:nvPr>
            <p:ph idx="5" type="subTitle"/>
          </p:nvPr>
        </p:nvSpPr>
        <p:spPr>
          <a:xfrm>
            <a:off x="3420001" y="2906725"/>
            <a:ext cx="23040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" name="Google Shape;181;p74"/>
          <p:cNvSpPr txBox="1"/>
          <p:nvPr>
            <p:ph idx="6" type="title"/>
          </p:nvPr>
        </p:nvSpPr>
        <p:spPr>
          <a:xfrm>
            <a:off x="6296775" y="1891075"/>
            <a:ext cx="10557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74"/>
          <p:cNvSpPr txBox="1"/>
          <p:nvPr>
            <p:ph idx="7" type="subTitle"/>
          </p:nvPr>
        </p:nvSpPr>
        <p:spPr>
          <a:xfrm>
            <a:off x="6198011" y="3439250"/>
            <a:ext cx="22260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3" name="Google Shape;183;p74"/>
          <p:cNvSpPr txBox="1"/>
          <p:nvPr>
            <p:ph idx="8" type="subTitle"/>
          </p:nvPr>
        </p:nvSpPr>
        <p:spPr>
          <a:xfrm>
            <a:off x="6120002" y="2906725"/>
            <a:ext cx="23040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74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5"/>
          <p:cNvSpPr/>
          <p:nvPr/>
        </p:nvSpPr>
        <p:spPr>
          <a:xfrm>
            <a:off x="4243000" y="-180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5"/>
          <p:cNvSpPr txBox="1"/>
          <p:nvPr>
            <p:ph type="title"/>
          </p:nvPr>
        </p:nvSpPr>
        <p:spPr>
          <a:xfrm>
            <a:off x="713225" y="1402850"/>
            <a:ext cx="32490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8" name="Google Shape;188;p75"/>
          <p:cNvSpPr txBox="1"/>
          <p:nvPr>
            <p:ph idx="1" type="subTitle"/>
          </p:nvPr>
        </p:nvSpPr>
        <p:spPr>
          <a:xfrm>
            <a:off x="713225" y="2466050"/>
            <a:ext cx="3249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6"/>
          <p:cNvSpPr/>
          <p:nvPr/>
        </p:nvSpPr>
        <p:spPr>
          <a:xfrm>
            <a:off x="0" y="0"/>
            <a:ext cx="490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6"/>
          <p:cNvSpPr txBox="1"/>
          <p:nvPr>
            <p:ph type="title"/>
          </p:nvPr>
        </p:nvSpPr>
        <p:spPr>
          <a:xfrm>
            <a:off x="4837200" y="1501200"/>
            <a:ext cx="35934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76"/>
          <p:cNvSpPr txBox="1"/>
          <p:nvPr>
            <p:ph idx="1" type="subTitle"/>
          </p:nvPr>
        </p:nvSpPr>
        <p:spPr>
          <a:xfrm>
            <a:off x="4837371" y="2562000"/>
            <a:ext cx="3593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7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77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96" name="Google Shape;196;p7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8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78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03" name="Google Shape;203;p7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7" name="Google Shape;207;p78"/>
          <p:cNvSpPr txBox="1"/>
          <p:nvPr>
            <p:ph idx="1" type="subTitle"/>
          </p:nvPr>
        </p:nvSpPr>
        <p:spPr>
          <a:xfrm>
            <a:off x="5292547" y="3632599"/>
            <a:ext cx="267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8" name="Google Shape;208;p78"/>
          <p:cNvSpPr txBox="1"/>
          <p:nvPr>
            <p:ph idx="2" type="subTitle"/>
          </p:nvPr>
        </p:nvSpPr>
        <p:spPr>
          <a:xfrm>
            <a:off x="1585702" y="3632599"/>
            <a:ext cx="267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9" name="Google Shape;209;p78"/>
          <p:cNvSpPr txBox="1"/>
          <p:nvPr>
            <p:ph idx="3" type="subTitle"/>
          </p:nvPr>
        </p:nvSpPr>
        <p:spPr>
          <a:xfrm>
            <a:off x="4988437" y="3200700"/>
            <a:ext cx="267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0" name="Google Shape;210;p78"/>
          <p:cNvSpPr txBox="1"/>
          <p:nvPr>
            <p:ph idx="4" type="subTitle"/>
          </p:nvPr>
        </p:nvSpPr>
        <p:spPr>
          <a:xfrm>
            <a:off x="1281362" y="3200700"/>
            <a:ext cx="267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9"/>
          <p:cNvSpPr txBox="1"/>
          <p:nvPr>
            <p:ph type="title"/>
          </p:nvPr>
        </p:nvSpPr>
        <p:spPr>
          <a:xfrm>
            <a:off x="3189013" y="696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3" name="Google Shape;213;p79"/>
          <p:cNvSpPr txBox="1"/>
          <p:nvPr>
            <p:ph idx="1" type="subTitle"/>
          </p:nvPr>
        </p:nvSpPr>
        <p:spPr>
          <a:xfrm>
            <a:off x="3485375" y="1860375"/>
            <a:ext cx="49455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79"/>
          <p:cNvSpPr txBox="1"/>
          <p:nvPr/>
        </p:nvSpPr>
        <p:spPr>
          <a:xfrm>
            <a:off x="3485425" y="35726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includes icons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" sz="12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b="1" i="0" sz="1200" u="none" cap="none" strike="noStrike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4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84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19" name="Google Shape;219;p8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5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85"/>
          <p:cNvGrpSpPr/>
          <p:nvPr/>
        </p:nvGrpSpPr>
        <p:grpSpPr>
          <a:xfrm>
            <a:off x="8193116" y="446250"/>
            <a:ext cx="414956" cy="186500"/>
            <a:chOff x="7059675" y="514525"/>
            <a:chExt cx="473100" cy="186500"/>
          </a:xfrm>
        </p:grpSpPr>
        <p:cxnSp>
          <p:nvCxnSpPr>
            <p:cNvPr id="225" name="Google Shape;225;p85"/>
            <p:cNvCxnSpPr/>
            <p:nvPr/>
          </p:nvCxnSpPr>
          <p:spPr>
            <a:xfrm flipH="1" rot="10800000">
              <a:off x="7059675" y="5145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85"/>
            <p:cNvCxnSpPr/>
            <p:nvPr/>
          </p:nvCxnSpPr>
          <p:spPr>
            <a:xfrm flipH="1" rot="10800000">
              <a:off x="7059675" y="60567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85"/>
            <p:cNvCxnSpPr/>
            <p:nvPr/>
          </p:nvCxnSpPr>
          <p:spPr>
            <a:xfrm flipH="1" rot="10800000">
              <a:off x="7059675" y="696825"/>
              <a:ext cx="473100" cy="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b="0" i="0" sz="35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"/>
          <p:cNvSpPr txBox="1"/>
          <p:nvPr>
            <p:ph type="ctrTitle"/>
          </p:nvPr>
        </p:nvSpPr>
        <p:spPr>
          <a:xfrm>
            <a:off x="2802000" y="942025"/>
            <a:ext cx="57975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Proyecto APT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MusicPrice Hub</a:t>
            </a:r>
            <a:endParaRPr/>
          </a:p>
        </p:txBody>
      </p:sp>
      <p:sp>
        <p:nvSpPr>
          <p:cNvPr id="233" name="Google Shape;233;p1"/>
          <p:cNvSpPr txBox="1"/>
          <p:nvPr>
            <p:ph idx="1" type="subTitle"/>
          </p:nvPr>
        </p:nvSpPr>
        <p:spPr>
          <a:xfrm>
            <a:off x="2711775" y="3086925"/>
            <a:ext cx="5797500" cy="1466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</a:t>
            </a:r>
            <a:r>
              <a:rPr lang="en" sz="1400"/>
              <a:t>Integrante </a:t>
            </a:r>
            <a:r>
              <a:rPr lang="en" sz="1400"/>
              <a:t>&lt; Javier Matamala,</a:t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           Marc Matheus,</a:t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                Christian </a:t>
            </a:r>
            <a:r>
              <a:rPr lang="en" sz="1400"/>
              <a:t>Rossel</a:t>
            </a:r>
            <a:r>
              <a:rPr lang="en" sz="1400"/>
              <a:t> &gt;</a:t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		Profesor &lt;Cristobal Beltran&gt;</a:t>
            </a:r>
            <a:endParaRPr sz="1400"/>
          </a:p>
        </p:txBody>
      </p:sp>
      <p:sp>
        <p:nvSpPr>
          <p:cNvPr id="234" name="Google Shape;234;p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b="0" i="0" sz="5000" u="none" cap="none" strike="noStrike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5" name="Google Shape;235;p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b="0" i="0" sz="5000" u="none" cap="none" strike="noStrik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6" name="Google Shape;236;p1"/>
          <p:cNvSpPr txBox="1"/>
          <p:nvPr/>
        </p:nvSpPr>
        <p:spPr>
          <a:xfrm>
            <a:off x="2711775" y="40019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b="0" i="0" sz="5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p1"/>
          <p:cNvGrpSpPr/>
          <p:nvPr/>
        </p:nvGrpSpPr>
        <p:grpSpPr>
          <a:xfrm>
            <a:off x="255130" y="696438"/>
            <a:ext cx="2377906" cy="3907562"/>
            <a:chOff x="5" y="747463"/>
            <a:chExt cx="2377906" cy="3907562"/>
          </a:xfrm>
        </p:grpSpPr>
        <p:sp>
          <p:nvSpPr>
            <p:cNvPr id="238" name="Google Shape;238;p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3" name="Google Shape;28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900" y="72031"/>
            <a:ext cx="3535209" cy="8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"/>
          <p:cNvSpPr txBox="1"/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Contexto.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89" name="Google Shape;289;p3"/>
          <p:cNvSpPr txBox="1"/>
          <p:nvPr>
            <p:ph idx="1" type="subTitle"/>
          </p:nvPr>
        </p:nvSpPr>
        <p:spPr>
          <a:xfrm>
            <a:off x="2765864" y="1665250"/>
            <a:ext cx="59334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El proyecto se desarrolla en Chile, donde el acceso a instrumentos musicales puede ser costoso y poco transparente.</a:t>
            </a:r>
            <a:endParaRPr/>
          </a:p>
        </p:txBody>
      </p:sp>
      <p:sp>
        <p:nvSpPr>
          <p:cNvPr id="290" name="Google Shape;290;p3"/>
          <p:cNvSpPr txBox="1"/>
          <p:nvPr>
            <p:ph idx="2" type="subTitle"/>
          </p:nvPr>
        </p:nvSpPr>
        <p:spPr>
          <a:xfrm>
            <a:off x="2765864" y="2755300"/>
            <a:ext cx="59331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Los principales afectados son músicos aficionados, profesionales, estudiantes y pequeñas tiendas del rubro musical.</a:t>
            </a:r>
            <a:endParaRPr/>
          </a:p>
        </p:txBody>
      </p:sp>
      <p:sp>
        <p:nvSpPr>
          <p:cNvPr id="291" name="Google Shape;291;p3"/>
          <p:cNvSpPr txBox="1"/>
          <p:nvPr>
            <p:ph idx="3" type="subTitle"/>
          </p:nvPr>
        </p:nvSpPr>
        <p:spPr>
          <a:xfrm>
            <a:off x="2766064" y="3856262"/>
            <a:ext cx="59331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El mercado musical carece de plataformas especializadas que </a:t>
            </a:r>
            <a:r>
              <a:rPr lang="en"/>
              <a:t>centralizan</a:t>
            </a:r>
            <a:r>
              <a:rPr lang="en"/>
              <a:t> la información de precios y experiencias de compra.</a:t>
            </a:r>
            <a:endParaRPr/>
          </a:p>
        </p:txBody>
      </p:sp>
      <p:sp>
        <p:nvSpPr>
          <p:cNvPr id="292" name="Google Shape;292;p3"/>
          <p:cNvSpPr txBox="1"/>
          <p:nvPr>
            <p:ph idx="4" type="title"/>
          </p:nvPr>
        </p:nvSpPr>
        <p:spPr>
          <a:xfrm>
            <a:off x="2487564" y="1336500"/>
            <a:ext cx="602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3" name="Google Shape;293;p3"/>
          <p:cNvSpPr txBox="1"/>
          <p:nvPr>
            <p:ph idx="5" type="title"/>
          </p:nvPr>
        </p:nvSpPr>
        <p:spPr>
          <a:xfrm>
            <a:off x="2487564" y="2423274"/>
            <a:ext cx="602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4" name="Google Shape;294;p3"/>
          <p:cNvSpPr txBox="1"/>
          <p:nvPr>
            <p:ph idx="6" type="title"/>
          </p:nvPr>
        </p:nvSpPr>
        <p:spPr>
          <a:xfrm>
            <a:off x="2487569" y="3527762"/>
            <a:ext cx="602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95" name="Google Shape;295;p3"/>
          <p:cNvGrpSpPr/>
          <p:nvPr/>
        </p:nvGrpSpPr>
        <p:grpSpPr>
          <a:xfrm>
            <a:off x="144800" y="2014025"/>
            <a:ext cx="2142175" cy="2736325"/>
            <a:chOff x="358925" y="1867675"/>
            <a:chExt cx="2142175" cy="2736325"/>
          </a:xfrm>
        </p:grpSpPr>
        <p:sp>
          <p:nvSpPr>
            <p:cNvPr id="296" name="Google Shape;296;p3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Problematica.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32" name="Google Shape;332;p2"/>
          <p:cNvSpPr txBox="1"/>
          <p:nvPr>
            <p:ph idx="1" type="body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En Chile hay músicos, estudiantes y aficionados enfrentan dificultades para encontrar información clara y consolidada sobre precios de instrumentos musicales.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Según el INE (2022), el equipamiento musical importado ha tenido variaciones de precios superiores al promedio del IPC, aumentando las barreras económicas para acceder a productos de calidad.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Esto obliga a los usuarios a recorrer múltiples tiendas físicas y online, sin garantía de obtener el mejor precio, invirtiendo tiempo en búsquedas poco eficientes.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graphicFrame>
        <p:nvGraphicFramePr>
          <p:cNvPr id="333" name="Google Shape;333;p2"/>
          <p:cNvGraphicFramePr/>
          <p:nvPr/>
        </p:nvGraphicFramePr>
        <p:xfrm>
          <a:off x="720000" y="281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{2AA35860-5EC9-46CE-AC10-FFEF6AEC42A3}</a:tableStyleId>
              </a:tblPr>
              <a:tblGrid>
                <a:gridCol w="7601050"/>
              </a:tblGrid>
              <a:tr h="36152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Source Code Pro"/>
                        <a:buChar char="●"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 información sobre precios de instrumentos está dispersa en muchas tiendas online.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100"/>
                        <a:buFont typeface="Source Code Pro"/>
                        <a:buChar char="●"/>
                      </a:pPr>
                      <a:r>
                        <a:rPr lang="en" sz="1100">
                          <a:solidFill>
                            <a:schemeClr val="accent2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Los usuarios deben invertir mucho tiempo comparando precios de forma manual.</a:t>
                      </a:r>
                      <a:endParaRPr sz="1100" u="none" cap="none" strike="noStrike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100"/>
                        <a:buFont typeface="Source Code Pro"/>
                        <a:buChar char="●"/>
                      </a:pPr>
                      <a:r>
                        <a:rPr lang="en" sz="1100">
                          <a:solidFill>
                            <a:schemeClr val="accent4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Existe falta de transparencia en el mercado, dificultando decisiones informadas.</a:t>
                      </a:r>
                      <a:endParaRPr sz="1100" u="none" cap="none" strike="noStrike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100"/>
                        <a:buFont typeface="Source Code Pro"/>
                        <a:buChar char="●"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 hay espacios digitales donde los músicos puedan compartir experiencias o consejos.</a:t>
                      </a:r>
                      <a:endParaRPr sz="1100" u="none" cap="none" strike="noStrike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100"/>
                        <a:buFont typeface="Source Code Pro"/>
                        <a:buChar char="●"/>
                      </a:pPr>
                      <a:r>
                        <a:rPr lang="en" sz="1100">
                          <a:solidFill>
                            <a:schemeClr val="accent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Las PYMEs del rubro musical tienen poca visibilidad en el entorno digital.</a:t>
                      </a:r>
                      <a:endParaRPr sz="1100" u="none" cap="none" strike="noStrike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cfa4228dc_0_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Propuesta de </a:t>
            </a:r>
            <a:r>
              <a:rPr lang="en"/>
              <a:t>solución</a:t>
            </a:r>
            <a:r>
              <a:rPr lang="en"/>
              <a:t>.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39" name="Google Shape;339;g38cfa4228dc_0_10"/>
          <p:cNvSpPr txBox="1"/>
          <p:nvPr>
            <p:ph idx="1" type="body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Plataforma web orientadas a los </a:t>
            </a:r>
            <a:r>
              <a:rPr lang="en" sz="1600"/>
              <a:t>músicos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Comparador de precios Integrado con Web </a:t>
            </a:r>
            <a:r>
              <a:rPr lang="en" sz="1600"/>
              <a:t>Scraping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M</a:t>
            </a:r>
            <a:r>
              <a:rPr lang="en" sz="1600"/>
              <a:t>ódulo de comunidad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P</a:t>
            </a:r>
            <a:r>
              <a:rPr lang="en" sz="1600"/>
              <a:t>rotección de datos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Solución innovadora,accesible y confiable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cfa4228dc_0_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Usuarios.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45" name="Google Shape;345;g38cfa4228dc_0_19"/>
          <p:cNvSpPr txBox="1"/>
          <p:nvPr>
            <p:ph idx="1" type="body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Músicos aficionados y profesionales: buscan comparar precios y encontrar las mejores ofertas para adquirir nuevos instrumentos o equipos.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Pequeñas y medianas tiendas musicales (PYMEs): pueden usar la plataforma para conocer el mercado, ajustar estrategias de precios y aumentar su visibilidad.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Comunidad musical en general: interesados en compartir opiniones, reseñas, consejos técnicos y tendencias del mercado.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Desarrolladores o investigadores del sector musical: que buscan analizar datos del mercado y comportamiento del consumidor.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graphicFrame>
        <p:nvGraphicFramePr>
          <p:cNvPr id="346" name="Google Shape;346;g38cfa4228dc_0_19"/>
          <p:cNvGraphicFramePr/>
          <p:nvPr/>
        </p:nvGraphicFramePr>
        <p:xfrm>
          <a:off x="720000" y="172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{2AA35860-5EC9-46CE-AC10-FFEF6AEC42A3}</a:tableStyleId>
              </a:tblPr>
              <a:tblGrid>
                <a:gridCol w="7601050"/>
              </a:tblGrid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Objetivos.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52" name="Google Shape;352;p6"/>
          <p:cNvSpPr txBox="1"/>
          <p:nvPr>
            <p:ph idx="1" type="subTitle"/>
          </p:nvPr>
        </p:nvSpPr>
        <p:spPr>
          <a:xfrm>
            <a:off x="4821900" y="2022850"/>
            <a:ext cx="4117800" cy="29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Implementar scrapers para recolectar y normalizar información de precios desde al menos cinco tiendas en línea del rubro musical.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Diseñar e implementar una base de datos relacional que almacene productos, precios y contenidos generados en la comunidad.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Desarrollar un frontend responsivo que permita a los usuarios buscar productos, visualizar comparativas y participar activamente en la comunidad.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353" name="Google Shape;353;p6"/>
          <p:cNvSpPr txBox="1"/>
          <p:nvPr>
            <p:ph idx="2" type="subTitle"/>
          </p:nvPr>
        </p:nvSpPr>
        <p:spPr>
          <a:xfrm>
            <a:off x="656350" y="2022850"/>
            <a:ext cx="3602100" cy="24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Desarrollar una plataforma web que integre un comparador de precios de instrumentos musicales mediante técnicas de web scraping y un módulo de comunidad en línea, con el fin de optimizar la toma de decisiones de compra y fomentar la interacción colaborativa entre los usuarios del rubro musical.</a:t>
            </a:r>
            <a:endParaRPr/>
          </a:p>
        </p:txBody>
      </p:sp>
      <p:sp>
        <p:nvSpPr>
          <p:cNvPr id="354" name="Google Shape;354;p6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5" name="Google Shape;355;p6"/>
          <p:cNvSpPr txBox="1"/>
          <p:nvPr>
            <p:ph type="title"/>
          </p:nvPr>
        </p:nvSpPr>
        <p:spPr>
          <a:xfrm>
            <a:off x="810725" y="1362175"/>
            <a:ext cx="33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Generales.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56" name="Google Shape;356;p6"/>
          <p:cNvSpPr txBox="1"/>
          <p:nvPr>
            <p:ph type="title"/>
          </p:nvPr>
        </p:nvSpPr>
        <p:spPr>
          <a:xfrm>
            <a:off x="4930200" y="1362175"/>
            <a:ext cx="33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Especificos.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cfa4228dc_0_32"/>
          <p:cNvSpPr txBox="1"/>
          <p:nvPr>
            <p:ph idx="1" type="subTitle"/>
          </p:nvPr>
        </p:nvSpPr>
        <p:spPr>
          <a:xfrm>
            <a:off x="4821898" y="1859737"/>
            <a:ext cx="3602100" cy="24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Dependencia de la estructura de las páginas web externas, que pueden cambiar sin previo aviso y afectar el scraping.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El sistema se limitará a un número reducido de tiendas en la versión inicial.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Los datos de precios no serán en tiempo real absoluto, ya que dependerán de la frecuencia de actualización del scraping.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El módulo comunitario contará inicialmente con funciones básicas (foros y comentarios), ampliables en fases futuras.</a:t>
            </a:r>
            <a:endParaRPr sz="1000"/>
          </a:p>
        </p:txBody>
      </p:sp>
      <p:sp>
        <p:nvSpPr>
          <p:cNvPr id="362" name="Google Shape;362;g38cfa4228dc_0_32"/>
          <p:cNvSpPr txBox="1"/>
          <p:nvPr>
            <p:ph idx="2" type="subTitle"/>
          </p:nvPr>
        </p:nvSpPr>
        <p:spPr>
          <a:xfrm>
            <a:off x="656350" y="1859737"/>
            <a:ext cx="3602100" cy="24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Desarrollar una plataforma web que consolide información de precios de instrumentos musicales mediante web scraping.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Implementar un comparador en tiempo real con alertas de variación de precios.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Aplicar medidas básicas de ciberseguridad para proteger la información de usuarios y garantizar un uso confiable.</a:t>
            </a:r>
            <a:endParaRPr sz="1000"/>
          </a:p>
        </p:txBody>
      </p:sp>
      <p:sp>
        <p:nvSpPr>
          <p:cNvPr id="363" name="Google Shape;363;g38cfa4228dc_0_32"/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4" name="Google Shape;364;g38cfa4228dc_0_32"/>
          <p:cNvSpPr txBox="1"/>
          <p:nvPr>
            <p:ph type="title"/>
          </p:nvPr>
        </p:nvSpPr>
        <p:spPr>
          <a:xfrm>
            <a:off x="810725" y="448742"/>
            <a:ext cx="33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Alcances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65" name="Google Shape;365;g38cfa4228dc_0_32"/>
          <p:cNvSpPr txBox="1"/>
          <p:nvPr>
            <p:ph type="title"/>
          </p:nvPr>
        </p:nvSpPr>
        <p:spPr>
          <a:xfrm>
            <a:off x="4930200" y="448742"/>
            <a:ext cx="33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Limitaciones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c83005e34_0_0"/>
          <p:cNvSpPr txBox="1"/>
          <p:nvPr>
            <p:ph idx="1" type="subTitle"/>
          </p:nvPr>
        </p:nvSpPr>
        <p:spPr>
          <a:xfrm>
            <a:off x="4821900" y="1609630"/>
            <a:ext cx="36021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realiza compras ni pagos.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garantiza precisión total de precios.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incluye chat directo entre usuarios.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analiza calidad de productos.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integra geolocalización.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sp>
        <p:nvSpPr>
          <p:cNvPr id="371" name="Google Shape;371;g39c83005e34_0_0"/>
          <p:cNvSpPr txBox="1"/>
          <p:nvPr>
            <p:ph idx="2" type="subTitle"/>
          </p:nvPr>
        </p:nvSpPr>
        <p:spPr>
          <a:xfrm>
            <a:off x="656350" y="1609630"/>
            <a:ext cx="3602100" cy="26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Compara precios de instrumentos musicales.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Muestra historial y alertas de precios.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Permite buscar productos por nombre o categoría.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Ofrece una comunidad con reseñas y comentarios.</a:t>
            </a:r>
            <a:br>
              <a:rPr lang="en" sz="1000"/>
            </a:b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Gestiona roles y autenticación de usuarios.</a:t>
            </a:r>
            <a:endParaRPr sz="1000"/>
          </a:p>
        </p:txBody>
      </p:sp>
      <p:sp>
        <p:nvSpPr>
          <p:cNvPr id="372" name="Google Shape;372;g39c83005e34_0_0"/>
          <p:cNvSpPr txBox="1"/>
          <p:nvPr>
            <p:ph type="title"/>
          </p:nvPr>
        </p:nvSpPr>
        <p:spPr>
          <a:xfrm>
            <a:off x="656350" y="448742"/>
            <a:ext cx="360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Que hace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73" name="Google Shape;373;g39c83005e34_0_0"/>
          <p:cNvSpPr txBox="1"/>
          <p:nvPr>
            <p:ph type="title"/>
          </p:nvPr>
        </p:nvSpPr>
        <p:spPr>
          <a:xfrm>
            <a:off x="4930200" y="448742"/>
            <a:ext cx="33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Que No hace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3bdb49c1b_0_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Metodología</a:t>
            </a:r>
            <a:r>
              <a:rPr lang="en"/>
              <a:t> de trabajo.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79" name="Google Shape;379;g383bdb49c1b_0_0"/>
          <p:cNvSpPr txBox="1"/>
          <p:nvPr>
            <p:ph idx="1" type="body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Metodología: Ágil Scrum, basada en desarrollo iterativo, entregas parciales y adaptación continua.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Etapas: Planificación, creación del backlog, desarrollo en sprints, reuniones de seguimiento y revisiones.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Herramientas: Jira (gestión), GitHub (código), Vercel/Render (despliegue), documentación técnica.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Roles: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Marc: Frontend, comunidad y ciberseguridad.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Javier: Backend, base de datos y despliegue.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Christian: Scraping, normalización e integración.</a:t>
            </a:r>
            <a:endParaRPr/>
          </a:p>
        </p:txBody>
      </p:sp>
      <p:graphicFrame>
        <p:nvGraphicFramePr>
          <p:cNvPr id="380" name="Google Shape;380;g383bdb49c1b_0_0"/>
          <p:cNvGraphicFramePr/>
          <p:nvPr/>
        </p:nvGraphicFramePr>
        <p:xfrm>
          <a:off x="720000" y="172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{2AA35860-5EC9-46CE-AC10-FFEF6AEC42A3}</a:tableStyleId>
              </a:tblPr>
              <a:tblGrid>
                <a:gridCol w="7601050"/>
              </a:tblGrid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3bdb49c1b_0_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Arquitectura de software.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86" name="Google Shape;386;g383bdb49c1b_0_6"/>
          <p:cNvSpPr txBox="1"/>
          <p:nvPr>
            <p:ph idx="1" type="body"/>
          </p:nvPr>
        </p:nvSpPr>
        <p:spPr>
          <a:xfrm>
            <a:off x="720000" y="1215750"/>
            <a:ext cx="7704000" cy="3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Frontend (React + Tailwind):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UI de búsqueda, comparador, historial y comunidad. Consume API vía HTTPS (CORS controlado).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Backend (FastAPI – REST):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Endpoints de productos/precios, comunidad, autenticación (JWT) y alertas. Validación con Pydantic.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Workers / Scheduler (Python):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Scrapers por tienda, normalización de datos, actualización de historial y envío de alertas. Tareas programadas.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Base de datos (PostgreSQL):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Tablas: productos, tiendas, precios, historial, usuarios, posts/comentarios, reportes.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Cache/Colas (opcional Redis):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Rate-limiting, cache de consultas populares y orquestación de jobs.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Seguridad: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JWT, hashing de contraseñas (bcrypt/argon2), validación de entrada, CORS, logs y monitoreo.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Despliegue: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00"/>
              <a:t>Frontend en Vercel; Backend y Workers en Render/Railway; DB gestionada (Neon/Supabase/Railway).</a:t>
            </a:r>
            <a:endParaRPr sz="1000"/>
          </a:p>
        </p:txBody>
      </p:sp>
      <p:graphicFrame>
        <p:nvGraphicFramePr>
          <p:cNvPr id="387" name="Google Shape;387;g383bdb49c1b_0_6"/>
          <p:cNvGraphicFramePr/>
          <p:nvPr/>
        </p:nvGraphicFramePr>
        <p:xfrm>
          <a:off x="720000" y="172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{2AA35860-5EC9-46CE-AC10-FFEF6AEC42A3}</a:tableStyleId>
              </a:tblPr>
              <a:tblGrid>
                <a:gridCol w="7601050"/>
              </a:tblGrid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3bdb49c1b_0_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Arquitectura de software.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93" name="Google Shape;393;g383bdb49c1b_0_12"/>
          <p:cNvSpPr txBox="1"/>
          <p:nvPr>
            <p:ph idx="1" type="body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graphicFrame>
        <p:nvGraphicFramePr>
          <p:cNvPr id="394" name="Google Shape;394;g383bdb49c1b_0_12"/>
          <p:cNvGraphicFramePr/>
          <p:nvPr/>
        </p:nvGraphicFramePr>
        <p:xfrm>
          <a:off x="720000" y="172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{2AA35860-5EC9-46CE-AC10-FFEF6AEC42A3}</a:tableStyleId>
              </a:tblPr>
              <a:tblGrid>
                <a:gridCol w="7601050"/>
              </a:tblGrid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95" name="Google Shape;395;g383bdb49c1b_0_12" title="arquitectura_comparador_colori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1605926"/>
            <a:ext cx="7601049" cy="19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c83005e34_0_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Casos De Usos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01" name="Google Shape;401;g39c83005e34_0_9"/>
          <p:cNvSpPr txBox="1"/>
          <p:nvPr>
            <p:ph idx="1" type="body"/>
          </p:nvPr>
        </p:nvSpPr>
        <p:spPr>
          <a:xfrm>
            <a:off x="720000" y="121575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graphicFrame>
        <p:nvGraphicFramePr>
          <p:cNvPr id="402" name="Google Shape;402;g39c83005e34_0_9"/>
          <p:cNvGraphicFramePr/>
          <p:nvPr/>
        </p:nvGraphicFramePr>
        <p:xfrm>
          <a:off x="720000" y="172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{2AA35860-5EC9-46CE-AC10-FFEF6AEC42A3}</a:tableStyleId>
              </a:tblPr>
              <a:tblGrid>
                <a:gridCol w="7601050"/>
              </a:tblGrid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03" name="Google Shape;403;g39c83005e34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678" y="1215750"/>
            <a:ext cx="4114424" cy="36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3bdb49c1b_0_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flujo de trabajo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09" name="Google Shape;409;g383bdb49c1b_0_25"/>
          <p:cNvSpPr txBox="1"/>
          <p:nvPr>
            <p:ph idx="1" type="body"/>
          </p:nvPr>
        </p:nvSpPr>
        <p:spPr>
          <a:xfrm>
            <a:off x="720000" y="3787500"/>
            <a:ext cx="77040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/>
              <a:t>Roles: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/>
              <a:t>🔵 Usuario (músico/estudiante/tienda).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/>
              <a:t>🔴 Administrador (moderación).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/>
              <a:t>🟢 Sistema (automatizaciones: scraping, alertas).</a:t>
            </a:r>
            <a:endParaRPr sz="900"/>
          </a:p>
        </p:txBody>
      </p:sp>
      <p:graphicFrame>
        <p:nvGraphicFramePr>
          <p:cNvPr id="410" name="Google Shape;410;g383bdb49c1b_0_25"/>
          <p:cNvGraphicFramePr/>
          <p:nvPr/>
        </p:nvGraphicFramePr>
        <p:xfrm>
          <a:off x="720000" y="172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{2AA35860-5EC9-46CE-AC10-FFEF6AEC42A3}</a:tableStyleId>
              </a:tblPr>
              <a:tblGrid>
                <a:gridCol w="7601050"/>
              </a:tblGrid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l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11" name="Google Shape;411;g383bdb49c1b_0_25" title="flujo_trabajo_comparad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400" y="1148450"/>
            <a:ext cx="7472252" cy="263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3bdb49c1b_0_20"/>
          <p:cNvSpPr txBox="1"/>
          <p:nvPr>
            <p:ph type="title"/>
          </p:nvPr>
        </p:nvSpPr>
        <p:spPr>
          <a:xfrm>
            <a:off x="720000" y="2396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Preguntas de la </a:t>
            </a:r>
            <a:r>
              <a:rPr lang="en"/>
              <a:t>Comisión</a:t>
            </a:r>
            <a:r>
              <a:rPr lang="en"/>
              <a:t>.</a:t>
            </a:r>
            <a:endParaRPr/>
          </a:p>
        </p:txBody>
      </p:sp>
      <p:sp>
        <p:nvSpPr>
          <p:cNvPr id="417" name="Google Shape;417;g383bdb49c1b_0_20"/>
          <p:cNvSpPr txBox="1"/>
          <p:nvPr>
            <p:ph idx="1" type="body"/>
          </p:nvPr>
        </p:nvSpPr>
        <p:spPr>
          <a:xfrm>
            <a:off x="899775" y="926100"/>
            <a:ext cx="7704000" cy="28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